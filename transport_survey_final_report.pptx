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81" r:id="rId5"/>
    <p:sldMasterId id="2147483682" r:id="rId6"/>
    <p:sldMasterId id="214748368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y="5143500" cx="9144000"/>
  <p:notesSz cx="6858000" cy="9144000"/>
  <p:embeddedFontLst>
    <p:embeddedFont>
      <p:font typeface="Raleway"/>
      <p:regular r:id="rId30"/>
      <p:bold r:id="rId31"/>
      <p:italic r:id="rId32"/>
      <p:boldItalic r:id="rId33"/>
    </p:embeddedFont>
    <p:embeddedFont>
      <p:font typeface="La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044FAFDD-7208-442D-BA99-3CCDFA373153}">
  <a:tblStyle styleId="{044FAFDD-7208-442D-BA99-3CCDFA37315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Raleway-bold.fntdata"/><Relationship Id="rId30" Type="http://schemas.openxmlformats.org/officeDocument/2006/relationships/font" Target="fonts/Raleway-regular.fntdata"/><Relationship Id="rId11" Type="http://schemas.openxmlformats.org/officeDocument/2006/relationships/slide" Target="slides/slide3.xml"/><Relationship Id="rId33" Type="http://schemas.openxmlformats.org/officeDocument/2006/relationships/font" Target="fonts/Raleway-boldItalic.fntdata"/><Relationship Id="rId10" Type="http://schemas.openxmlformats.org/officeDocument/2006/relationships/slide" Target="slides/slide2.xml"/><Relationship Id="rId32" Type="http://schemas.openxmlformats.org/officeDocument/2006/relationships/font" Target="fonts/Raleway-italic.fntdata"/><Relationship Id="rId13" Type="http://schemas.openxmlformats.org/officeDocument/2006/relationships/slide" Target="slides/slide5.xml"/><Relationship Id="rId35" Type="http://schemas.openxmlformats.org/officeDocument/2006/relationships/font" Target="fonts/Lato-bold.fntdata"/><Relationship Id="rId12" Type="http://schemas.openxmlformats.org/officeDocument/2006/relationships/slide" Target="slides/slide4.xml"/><Relationship Id="rId34" Type="http://schemas.openxmlformats.org/officeDocument/2006/relationships/font" Target="fonts/Lato-regular.fntdata"/><Relationship Id="rId15" Type="http://schemas.openxmlformats.org/officeDocument/2006/relationships/slide" Target="slides/slide7.xml"/><Relationship Id="rId37" Type="http://schemas.openxmlformats.org/officeDocument/2006/relationships/font" Target="fonts/Lato-boldItalic.fntdata"/><Relationship Id="rId14" Type="http://schemas.openxmlformats.org/officeDocument/2006/relationships/slide" Target="slides/slide6.xml"/><Relationship Id="rId36" Type="http://schemas.openxmlformats.org/officeDocument/2006/relationships/font" Target="fonts/Lato-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5e1e3c029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5e1e3c029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5e1e3c029b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5e1e3c029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57f6ce35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57f6ce35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5e1e3c029b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5e1e3c029b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57f6ce358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57f6ce358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57f6ce358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57f6ce358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5e1e3c029b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5e1e3c029b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e1e3c029b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5e1e3c029b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5e1e3c029b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5e1e3c029b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5e1e3c029b_1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5e1e3c029b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6fa3c898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c6fa3c8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c6fa3c898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c6fa3c8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c6fa3c898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c6fa3c89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57ee27fe2c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57ee27fe2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57ee27fe2c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57ee27fe2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57ee27fe2c_0_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57ee27fe2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57ee27fe2c_0_6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57ee27fe2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c6fa3c898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c6fa3c89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5e1e3c029b_1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5e1e3c029b_1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57ee27fe2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57ee27fe2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4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Google Shape;80;p15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" name="Google Shape;81;p15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Google Shape;85;p16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16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16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17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1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7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rgbClr val="35353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Google Shape;108;p2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20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3" name="Google Shape;11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21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21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Google Shape;119;p22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2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Google Shape;124;p2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2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136;p26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p26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26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26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26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2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rgbClr val="353535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Google Shape;145;p2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2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" name="Google Shape;147;p2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Google Shape;149;p29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29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29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4" name="Google Shape;154;p30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30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3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3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" name="Google Shape;161;p31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31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" name="Google Shape;163;p31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3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6" name="Google Shape;166;p31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7" name="Google Shape;167;p3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0" name="Google Shape;170;p3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33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33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4" name="Google Shape;174;p33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5" name="Google Shape;175;p3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p3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34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0" name="Google Shape;180;p34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1" name="Google Shape;181;p3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3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35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3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35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87" name="Google Shape;187;p3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6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36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36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192" name="Google Shape;192;p36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3" name="Google Shape;193;p3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wiss-2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wiss-2"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4" name="Google Shape;134;p2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23.png"/><Relationship Id="rId6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Status Report:</a:t>
            </a:r>
            <a:br>
              <a:rPr lang="en"/>
            </a:br>
            <a:endParaRPr/>
          </a:p>
        </p:txBody>
      </p:sp>
      <p:sp>
        <p:nvSpPr>
          <p:cNvPr id="199" name="Google Shape;199;p37"/>
          <p:cNvSpPr txBox="1"/>
          <p:nvPr>
            <p:ph idx="1" type="subTitle"/>
          </p:nvPr>
        </p:nvSpPr>
        <p:spPr>
          <a:xfrm>
            <a:off x="2390275" y="2832500"/>
            <a:ext cx="6331500" cy="16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400"/>
              <a:t>*Nautatava Navlakha - 160040007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400"/>
              <a:t>Sarvind Rankawat - 160040057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Arsh Akhtar Ansari - 160040024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*Team leader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3000"/>
              <a:buNone/>
            </a:pPr>
            <a:r>
              <a:rPr lang="en" sz="3600">
                <a:solidFill>
                  <a:schemeClr val="dk1"/>
                </a:solidFill>
              </a:rPr>
              <a:t>Goal and Objectives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205" name="Google Shape;205;p38"/>
          <p:cNvSpPr txBox="1"/>
          <p:nvPr>
            <p:ph idx="4294967295" type="title"/>
          </p:nvPr>
        </p:nvSpPr>
        <p:spPr>
          <a:xfrm>
            <a:off x="535775" y="1480150"/>
            <a:ext cx="51972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3000"/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Created as an idea to change the traditional approach of pen-paper based survey, this project gives surveyor a way to both decrease the chances of errors and ease the survey taking procedure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" name="Google Shape;210;p39"/>
          <p:cNvGraphicFramePr/>
          <p:nvPr/>
        </p:nvGraphicFramePr>
        <p:xfrm>
          <a:off x="557200" y="747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{044FAFDD-7208-442D-BA99-3CCDFA373153}</a:tableStyleId>
              </a:tblPr>
              <a:tblGrid>
                <a:gridCol w="344050"/>
                <a:gridCol w="4174875"/>
                <a:gridCol w="1132900"/>
                <a:gridCol w="1716825"/>
                <a:gridCol w="660925"/>
              </a:tblGrid>
              <a:tr h="466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Major Tasks</a:t>
                      </a:r>
                      <a:endParaRPr b="1"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Completion Date</a:t>
                      </a:r>
                      <a:endParaRPr b="1"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Personal</a:t>
                      </a:r>
                      <a:endParaRPr b="1" sz="1400" u="none" cap="none" strike="noStrike"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Responsible</a:t>
                      </a:r>
                      <a:endParaRPr b="1"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Weight</a:t>
                      </a:r>
                      <a:endParaRPr b="1" sz="1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Inception report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Mar. 03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&lt;Group leader&gt;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15%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Building the interface for user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Mar. 15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Nautatava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5%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Building the API for receiving Data from app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Mar. 22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Arsh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5%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Connecting to Maps API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Mar. 29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Sarvind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5%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Build interface for surveyor to change questions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Mar. 30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Arsh and Nautatava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10%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Building the questionnaire to be asked in survey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Apr. 1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All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15%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Take survey from inmates to practically use the app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Apr. 5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All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15%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Analyze data to look out for trends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Apr. 7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All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15%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Final report in ppt and presentation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Apr. 10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All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15%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0"/>
          <p:cNvSpPr txBox="1"/>
          <p:nvPr>
            <p:ph type="title"/>
          </p:nvPr>
        </p:nvSpPr>
        <p:spPr>
          <a:xfrm>
            <a:off x="2784000" y="389000"/>
            <a:ext cx="3576000" cy="6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Interface development</a:t>
            </a:r>
            <a:endParaRPr sz="2400">
              <a:solidFill>
                <a:schemeClr val="accent5"/>
              </a:solidFill>
            </a:endParaRPr>
          </a:p>
        </p:txBody>
      </p:sp>
      <p:grpSp>
        <p:nvGrpSpPr>
          <p:cNvPr id="216" name="Google Shape;216;p40"/>
          <p:cNvGrpSpPr/>
          <p:nvPr/>
        </p:nvGrpSpPr>
        <p:grpSpPr>
          <a:xfrm>
            <a:off x="6781388" y="2464029"/>
            <a:ext cx="2212050" cy="2537076"/>
            <a:chOff x="6803275" y="395363"/>
            <a:chExt cx="2212050" cy="2537076"/>
          </a:xfrm>
        </p:grpSpPr>
        <p:pic>
          <p:nvPicPr>
            <p:cNvPr id="217" name="Google Shape;2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218" name="Google Shape;218;p40"/>
            <p:cNvPicPr preferRelativeResize="0"/>
            <p:nvPr/>
          </p:nvPicPr>
          <p:blipFill rotWithShape="1">
            <a:blip r:embed="rId4">
              <a:alphaModFix/>
            </a:blip>
            <a:srcRect b="10011" l="9244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p40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Specifications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App built on android studio and supported on any smartphone with Android 5.0 or higher. </a:t>
              </a:r>
              <a:endParaRPr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According to Google, almost </a:t>
              </a:r>
              <a:r>
                <a:rPr b="1"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85% </a:t>
              </a: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devices are supported</a:t>
              </a:r>
              <a:endParaRPr b="1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220" name="Google Shape;220;p40"/>
          <p:cNvSpPr txBox="1"/>
          <p:nvPr/>
        </p:nvSpPr>
        <p:spPr>
          <a:xfrm>
            <a:off x="0" y="924150"/>
            <a:ext cx="6445200" cy="4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2400">
                <a:solidFill>
                  <a:srgbClr val="F3F3F3"/>
                </a:solidFill>
                <a:latin typeface="Raleway"/>
                <a:ea typeface="Raleway"/>
                <a:cs typeface="Raleway"/>
                <a:sym typeface="Raleway"/>
              </a:rPr>
              <a:t>App built on</a:t>
            </a:r>
            <a:r>
              <a:rPr lang="en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lang="en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Java</a:t>
            </a:r>
            <a:r>
              <a:rPr lang="en" sz="2400">
                <a:solidFill>
                  <a:srgbClr val="F3F3F3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r>
              <a:rPr lang="en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3F3F3"/>
                </a:solidFill>
                <a:latin typeface="Raleway"/>
                <a:ea typeface="Raleway"/>
                <a:cs typeface="Raleway"/>
                <a:sym typeface="Raleway"/>
              </a:rPr>
              <a:t>This is the first point where users get a touch of questions. Includes images so that the questions are self explanatory.</a:t>
            </a:r>
            <a:endParaRPr sz="2400">
              <a:solidFill>
                <a:srgbClr val="F3F3F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3F3F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3F3F3"/>
                </a:solidFill>
                <a:latin typeface="Raleway"/>
                <a:ea typeface="Raleway"/>
                <a:cs typeface="Raleway"/>
                <a:sym typeface="Raleway"/>
              </a:rPr>
              <a:t>types of interfaces:</a:t>
            </a:r>
            <a:endParaRPr sz="2400">
              <a:solidFill>
                <a:srgbClr val="F3F3F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Font typeface="Raleway"/>
              <a:buChar char="-"/>
            </a:pPr>
            <a:r>
              <a:rPr lang="en" sz="2400">
                <a:solidFill>
                  <a:srgbClr val="F3F3F3"/>
                </a:solidFill>
                <a:latin typeface="Raleway"/>
                <a:ea typeface="Raleway"/>
                <a:cs typeface="Raleway"/>
                <a:sym typeface="Raleway"/>
              </a:rPr>
              <a:t>User interface to answer questions</a:t>
            </a:r>
            <a:endParaRPr sz="2400">
              <a:solidFill>
                <a:srgbClr val="F3F3F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Font typeface="Raleway"/>
              <a:buChar char="-"/>
            </a:pPr>
            <a:r>
              <a:rPr lang="en" sz="2400">
                <a:solidFill>
                  <a:srgbClr val="F3F3F3"/>
                </a:solidFill>
                <a:latin typeface="Raleway"/>
                <a:ea typeface="Raleway"/>
                <a:cs typeface="Raleway"/>
                <a:sym typeface="Raleway"/>
              </a:rPr>
              <a:t>Admin interface to change questions</a:t>
            </a:r>
            <a:endParaRPr sz="2400">
              <a:solidFill>
                <a:srgbClr val="F3F3F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Font typeface="Raleway"/>
              <a:buChar char="-"/>
            </a:pPr>
            <a:r>
              <a:rPr lang="en" sz="2400">
                <a:solidFill>
                  <a:srgbClr val="F3F3F3"/>
                </a:solidFill>
                <a:latin typeface="Raleway"/>
                <a:ea typeface="Raleway"/>
                <a:cs typeface="Raleway"/>
                <a:sym typeface="Raleway"/>
              </a:rPr>
              <a:t>Look for the responses given</a:t>
            </a:r>
            <a:endParaRPr sz="2400">
              <a:solidFill>
                <a:srgbClr val="F3F3F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Font typeface="Raleway"/>
              <a:buChar char="-"/>
            </a:pPr>
            <a:r>
              <a:rPr lang="en" sz="2400">
                <a:solidFill>
                  <a:srgbClr val="F3F3F3"/>
                </a:solidFill>
                <a:latin typeface="Raleway"/>
                <a:ea typeface="Raleway"/>
                <a:cs typeface="Raleway"/>
                <a:sym typeface="Raleway"/>
              </a:rPr>
              <a:t>Option to export to sheet</a:t>
            </a:r>
            <a:endParaRPr sz="2400">
              <a:solidFill>
                <a:srgbClr val="F3F3F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1"/>
          <p:cNvSpPr txBox="1"/>
          <p:nvPr/>
        </p:nvSpPr>
        <p:spPr>
          <a:xfrm>
            <a:off x="0" y="496900"/>
            <a:ext cx="88455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6" name="Google Shape;226;p41"/>
          <p:cNvSpPr txBox="1"/>
          <p:nvPr>
            <p:ph type="title"/>
          </p:nvPr>
        </p:nvSpPr>
        <p:spPr>
          <a:xfrm>
            <a:off x="2810325" y="28150"/>
            <a:ext cx="82968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/>
              <a:t>    </a:t>
            </a:r>
            <a:r>
              <a:rPr lang="en" sz="3600" u="sng"/>
              <a:t>Geocode data extraction</a:t>
            </a:r>
            <a:endParaRPr sz="3600" u="sng"/>
          </a:p>
        </p:txBody>
      </p:sp>
      <p:pic>
        <p:nvPicPr>
          <p:cNvPr descr="Image result for accessing address using geocoder api android" id="227" name="Google Shape;22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850" y="496900"/>
            <a:ext cx="2683650" cy="414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ddress location API from maps android app in mumbai" id="228" name="Google Shape;22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7900" y="1189375"/>
            <a:ext cx="3131949" cy="340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1"/>
          <p:cNvSpPr/>
          <p:nvPr/>
        </p:nvSpPr>
        <p:spPr>
          <a:xfrm>
            <a:off x="3405811" y="1283525"/>
            <a:ext cx="2180100" cy="67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1"/>
          <p:cNvSpPr txBox="1"/>
          <p:nvPr/>
        </p:nvSpPr>
        <p:spPr>
          <a:xfrm>
            <a:off x="3349150" y="2363850"/>
            <a:ext cx="2159100" cy="18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CCC"/>
              </a:buClr>
              <a:buSzPts val="1600"/>
              <a:buFont typeface="Raleway"/>
              <a:buAutoNum type="alphaUcPeriod"/>
            </a:pPr>
            <a:r>
              <a:rPr b="1" i="0" lang="en" sz="1600" u="none" cap="none" strike="noStrike">
                <a:solidFill>
                  <a:srgbClr val="F4CCCC"/>
                </a:solidFill>
                <a:latin typeface="Raleway"/>
                <a:ea typeface="Raleway"/>
                <a:cs typeface="Raleway"/>
                <a:sym typeface="Raleway"/>
              </a:rPr>
              <a:t>Finding textual location using text entered</a:t>
            </a:r>
            <a:endParaRPr b="1" i="0" sz="1600" u="none" cap="none" strike="noStrike">
              <a:solidFill>
                <a:srgbClr val="F4CCCC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CCC"/>
              </a:buClr>
              <a:buSzPts val="1600"/>
              <a:buFont typeface="Raleway"/>
              <a:buAutoNum type="alphaUcPeriod"/>
            </a:pPr>
            <a:r>
              <a:rPr b="1" i="0" lang="en" sz="1600" u="none" cap="none" strike="noStrike">
                <a:solidFill>
                  <a:srgbClr val="F4CCCC"/>
                </a:solidFill>
                <a:latin typeface="Raleway"/>
                <a:ea typeface="Raleway"/>
                <a:cs typeface="Raleway"/>
                <a:sym typeface="Raleway"/>
              </a:rPr>
              <a:t>Calibrating the location data using the map</a:t>
            </a:r>
            <a:endParaRPr b="1" i="0" sz="1600" u="none" cap="none" strike="noStrike">
              <a:solidFill>
                <a:srgbClr val="F4CCC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1" name="Google Shape;231;p41"/>
          <p:cNvSpPr txBox="1"/>
          <p:nvPr/>
        </p:nvSpPr>
        <p:spPr>
          <a:xfrm>
            <a:off x="964950" y="4646600"/>
            <a:ext cx="9939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F4CCCC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endParaRPr b="0" i="0" sz="3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" name="Google Shape;232;p41"/>
          <p:cNvSpPr txBox="1"/>
          <p:nvPr/>
        </p:nvSpPr>
        <p:spPr>
          <a:xfrm>
            <a:off x="6808725" y="4646600"/>
            <a:ext cx="2494500" cy="26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F4CCCC"/>
                </a:solidFill>
                <a:latin typeface="Raleway"/>
                <a:ea typeface="Raleway"/>
                <a:cs typeface="Raleway"/>
                <a:sym typeface="Raleway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2"/>
          <p:cNvSpPr txBox="1"/>
          <p:nvPr/>
        </p:nvSpPr>
        <p:spPr>
          <a:xfrm>
            <a:off x="0" y="496900"/>
            <a:ext cx="88455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8" name="Google Shape;238;p42"/>
          <p:cNvSpPr txBox="1"/>
          <p:nvPr>
            <p:ph type="title"/>
          </p:nvPr>
        </p:nvSpPr>
        <p:spPr>
          <a:xfrm>
            <a:off x="274350" y="28150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    </a:t>
            </a:r>
            <a:r>
              <a:rPr lang="en" sz="3600" u="sng"/>
              <a:t>Backend Data Collection</a:t>
            </a:r>
            <a:endParaRPr sz="3600" u="sng"/>
          </a:p>
        </p:txBody>
      </p:sp>
      <p:sp>
        <p:nvSpPr>
          <p:cNvPr id="239" name="Google Shape;239;p42"/>
          <p:cNvSpPr txBox="1"/>
          <p:nvPr/>
        </p:nvSpPr>
        <p:spPr>
          <a:xfrm>
            <a:off x="1828500" y="1101400"/>
            <a:ext cx="54870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4CCCC"/>
              </a:buClr>
              <a:buSzPts val="1600"/>
              <a:buFont typeface="Raleway"/>
              <a:buAutoNum type="alphaUcPeriod"/>
            </a:pPr>
            <a:r>
              <a:rPr b="1" lang="en" sz="1600">
                <a:solidFill>
                  <a:srgbClr val="F4CCCC"/>
                </a:solidFill>
                <a:latin typeface="Raleway"/>
                <a:ea typeface="Raleway"/>
                <a:cs typeface="Raleway"/>
                <a:sym typeface="Raleway"/>
              </a:rPr>
              <a:t>Execution of a django database using different models for each field of database</a:t>
            </a:r>
            <a:endParaRPr b="1" sz="1600">
              <a:solidFill>
                <a:srgbClr val="F4CCCC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4CCCC"/>
              </a:buClr>
              <a:buSzPts val="1600"/>
              <a:buFont typeface="Raleway"/>
              <a:buAutoNum type="alphaUcPeriod"/>
            </a:pPr>
            <a:r>
              <a:rPr b="1" lang="en" sz="1600">
                <a:solidFill>
                  <a:srgbClr val="F4CCCC"/>
                </a:solidFill>
                <a:latin typeface="Raleway"/>
                <a:ea typeface="Raleway"/>
                <a:cs typeface="Raleway"/>
                <a:sym typeface="Raleway"/>
              </a:rPr>
              <a:t>Execution of APIs for connecting data collection from the app to server</a:t>
            </a:r>
            <a:endParaRPr b="1" sz="1600">
              <a:solidFill>
                <a:srgbClr val="F4CCCC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4CCCC"/>
              </a:buClr>
              <a:buSzPts val="1600"/>
              <a:buFont typeface="Raleway"/>
              <a:buAutoNum type="alphaUcPeriod"/>
            </a:pPr>
            <a:r>
              <a:rPr b="1" lang="en" sz="1600">
                <a:solidFill>
                  <a:srgbClr val="F4CCCC"/>
                </a:solidFill>
                <a:latin typeface="Raleway"/>
                <a:ea typeface="Raleway"/>
                <a:cs typeface="Raleway"/>
                <a:sym typeface="Raleway"/>
              </a:rPr>
              <a:t>Conversion of data into different file system like excel files for better data analysis</a:t>
            </a:r>
            <a:endParaRPr b="1" sz="1600">
              <a:solidFill>
                <a:srgbClr val="F4CCC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0" name="Google Shape;240;p42"/>
          <p:cNvSpPr txBox="1"/>
          <p:nvPr/>
        </p:nvSpPr>
        <p:spPr>
          <a:xfrm>
            <a:off x="964950" y="4646600"/>
            <a:ext cx="9939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" name="Google Shape;241;p42"/>
          <p:cNvSpPr txBox="1"/>
          <p:nvPr/>
        </p:nvSpPr>
        <p:spPr>
          <a:xfrm>
            <a:off x="6808725" y="4646600"/>
            <a:ext cx="2494500" cy="26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4113" y="2938075"/>
            <a:ext cx="6897265" cy="154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/>
          <p:nvPr/>
        </p:nvSpPr>
        <p:spPr>
          <a:xfrm>
            <a:off x="641450" y="1457900"/>
            <a:ext cx="7954500" cy="15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4CCCC"/>
              </a:buClr>
              <a:buSzPts val="1600"/>
              <a:buFont typeface="Raleway"/>
              <a:buAutoNum type="arabicPeriod"/>
            </a:pPr>
            <a:r>
              <a:rPr b="1" lang="en" sz="1600">
                <a:solidFill>
                  <a:srgbClr val="F4CCCC"/>
                </a:solidFill>
                <a:latin typeface="Raleway"/>
                <a:ea typeface="Raleway"/>
                <a:cs typeface="Raleway"/>
                <a:sym typeface="Raleway"/>
              </a:rPr>
              <a:t>A admin interface where supervisor can add interviewers, set questions and view surveys taken.</a:t>
            </a:r>
            <a:endParaRPr b="1" sz="1600">
              <a:solidFill>
                <a:srgbClr val="F4CCCC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4CCCC"/>
              </a:buClr>
              <a:buSzPts val="1600"/>
              <a:buFont typeface="Raleway"/>
              <a:buAutoNum type="arabicPeriod"/>
            </a:pPr>
            <a:r>
              <a:rPr b="1" lang="en" sz="1600">
                <a:solidFill>
                  <a:srgbClr val="F4CCCC"/>
                </a:solidFill>
                <a:latin typeface="Raleway"/>
                <a:ea typeface="Raleway"/>
                <a:cs typeface="Raleway"/>
                <a:sym typeface="Raleway"/>
              </a:rPr>
              <a:t>User logs into his interviewer account to get the questions on the screen. He can then start taking interviews.</a:t>
            </a:r>
            <a:endParaRPr b="1" sz="1600">
              <a:solidFill>
                <a:srgbClr val="F4CCCC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4CCCC"/>
              </a:buClr>
              <a:buSzPts val="1600"/>
              <a:buFont typeface="Raleway"/>
              <a:buAutoNum type="arabicPeriod"/>
            </a:pPr>
            <a:r>
              <a:rPr b="1" lang="en" sz="1600">
                <a:solidFill>
                  <a:srgbClr val="F4CCCC"/>
                </a:solidFill>
                <a:latin typeface="Raleway"/>
                <a:ea typeface="Raleway"/>
                <a:cs typeface="Raleway"/>
                <a:sym typeface="Raleway"/>
              </a:rPr>
              <a:t>Extracting responses in form of excel sheet to view and share data offline.</a:t>
            </a:r>
            <a:endParaRPr b="1" sz="1600">
              <a:solidFill>
                <a:srgbClr val="F4CCC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8" name="Google Shape;248;p43"/>
          <p:cNvSpPr txBox="1"/>
          <p:nvPr>
            <p:ph type="title"/>
          </p:nvPr>
        </p:nvSpPr>
        <p:spPr>
          <a:xfrm>
            <a:off x="423600" y="631700"/>
            <a:ext cx="8296800" cy="97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Admin interface</a:t>
            </a:r>
            <a:endParaRPr sz="3600"/>
          </a:p>
        </p:txBody>
      </p:sp>
      <p:pic>
        <p:nvPicPr>
          <p:cNvPr id="249" name="Google Shape;24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2475" y="2869000"/>
            <a:ext cx="5632439" cy="18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dk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55" name="Google Shape;255;p44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44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Questionnaire Design</a:t>
            </a:r>
            <a:endParaRPr b="1" i="0" sz="2400" u="none" cap="none" strike="noStrike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7" name="Google Shape;257;p44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Choose a good questionnaire design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to grab the purpose right from the start</a:t>
            </a: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Household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Get</a:t>
            </a: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the socioeconomic info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Personal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Get a detailed house structure in the area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Simple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Provide a simple unifying message for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what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is to come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5"/>
          <p:cNvSpPr txBox="1"/>
          <p:nvPr/>
        </p:nvSpPr>
        <p:spPr>
          <a:xfrm>
            <a:off x="641450" y="1457900"/>
            <a:ext cx="79545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CCC"/>
              </a:buClr>
              <a:buSzPts val="1600"/>
              <a:buFont typeface="Raleway"/>
              <a:buAutoNum type="arabicPeriod"/>
            </a:pPr>
            <a:r>
              <a:rPr b="1" i="0" lang="en" sz="1600" u="none" cap="none" strike="noStrike">
                <a:solidFill>
                  <a:srgbClr val="F4CCCC"/>
                </a:solidFill>
                <a:latin typeface="Raleway"/>
                <a:ea typeface="Raleway"/>
                <a:cs typeface="Raleway"/>
                <a:sym typeface="Raleway"/>
              </a:rPr>
              <a:t>The portals being ready, now can be used for practical purpose of taking survey on-field.</a:t>
            </a:r>
            <a:endParaRPr b="1" i="0" sz="1600" u="none" cap="none" strike="noStrike">
              <a:solidFill>
                <a:srgbClr val="F4CCCC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CCC"/>
              </a:buClr>
              <a:buSzPts val="1600"/>
              <a:buFont typeface="Raleway"/>
              <a:buAutoNum type="arabicPeriod"/>
            </a:pPr>
            <a:r>
              <a:rPr b="1" i="0" lang="en" sz="1600" u="none" cap="none" strike="noStrike">
                <a:solidFill>
                  <a:srgbClr val="F4CCCC"/>
                </a:solidFill>
                <a:latin typeface="Raleway"/>
                <a:ea typeface="Raleway"/>
                <a:cs typeface="Raleway"/>
                <a:sym typeface="Raleway"/>
              </a:rPr>
              <a:t>Will help in checking correctness of app.</a:t>
            </a:r>
            <a:endParaRPr b="1" i="0" sz="1600" u="none" cap="none" strike="noStrike">
              <a:solidFill>
                <a:srgbClr val="F4CCCC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4CCC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3" name="Google Shape;263;p45"/>
          <p:cNvSpPr txBox="1"/>
          <p:nvPr>
            <p:ph type="title"/>
          </p:nvPr>
        </p:nvSpPr>
        <p:spPr>
          <a:xfrm>
            <a:off x="423600" y="631700"/>
            <a:ext cx="82968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/>
              <a:t>Take survey from inmates</a:t>
            </a:r>
            <a:endParaRPr sz="3600"/>
          </a:p>
        </p:txBody>
      </p:sp>
      <p:pic>
        <p:nvPicPr>
          <p:cNvPr id="264" name="Google Shape;26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3277500"/>
            <a:ext cx="8839200" cy="902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6"/>
          <p:cNvSpPr txBox="1"/>
          <p:nvPr/>
        </p:nvSpPr>
        <p:spPr>
          <a:xfrm>
            <a:off x="641450" y="1457900"/>
            <a:ext cx="79545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CCC"/>
              </a:buClr>
              <a:buSzPts val="1600"/>
              <a:buFont typeface="Raleway"/>
              <a:buAutoNum type="arabicPeriod"/>
            </a:pPr>
            <a:r>
              <a:rPr b="1" i="0" lang="en" sz="1600" u="none" cap="none" strike="noStrike">
                <a:solidFill>
                  <a:srgbClr val="F4CCCC"/>
                </a:solidFill>
                <a:latin typeface="Raleway"/>
                <a:ea typeface="Raleway"/>
                <a:cs typeface="Raleway"/>
                <a:sym typeface="Raleway"/>
              </a:rPr>
              <a:t>Analysis is important to know the current transportation situation</a:t>
            </a:r>
            <a:endParaRPr b="1" i="0" sz="1600" u="none" cap="none" strike="noStrike">
              <a:solidFill>
                <a:srgbClr val="F4CCCC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CCC"/>
              </a:buClr>
              <a:buSzPts val="1600"/>
              <a:buFont typeface="Raleway"/>
              <a:buAutoNum type="arabicPeriod"/>
            </a:pPr>
            <a:r>
              <a:rPr b="1" i="0" lang="en" sz="1600" u="none" cap="none" strike="noStrike">
                <a:solidFill>
                  <a:srgbClr val="F4CCCC"/>
                </a:solidFill>
                <a:latin typeface="Raleway"/>
                <a:ea typeface="Raleway"/>
                <a:cs typeface="Raleway"/>
                <a:sym typeface="Raleway"/>
              </a:rPr>
              <a:t>Our analysis will be making trip generation model</a:t>
            </a:r>
            <a:endParaRPr b="1" i="0" sz="1600" u="none" cap="none" strike="noStrike">
              <a:solidFill>
                <a:srgbClr val="F4CCC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0" name="Google Shape;270;p46"/>
          <p:cNvSpPr txBox="1"/>
          <p:nvPr>
            <p:ph type="title"/>
          </p:nvPr>
        </p:nvSpPr>
        <p:spPr>
          <a:xfrm>
            <a:off x="423600" y="631700"/>
            <a:ext cx="82968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/>
              <a:t>Analyze data</a:t>
            </a:r>
            <a:endParaRPr sz="3600"/>
          </a:p>
        </p:txBody>
      </p:sp>
      <p:pic>
        <p:nvPicPr>
          <p:cNvPr id="271" name="Google Shape;27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200" y="2352675"/>
            <a:ext cx="7371613" cy="2629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dk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77" name="Google Shape;277;p47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7"/>
          <p:cNvSpPr txBox="1"/>
          <p:nvPr/>
        </p:nvSpPr>
        <p:spPr>
          <a:xfrm>
            <a:off x="2606100" y="929625"/>
            <a:ext cx="39318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Why not conventional methods?</a:t>
            </a:r>
            <a:endParaRPr b="1" i="0" sz="1900" u="none" cap="none" strike="noStrike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9" name="Google Shape;279;p47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There are a number of online survey sites such as SurveyMonkey or as simple as google sheets, but….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Flexibility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When you need to add custom validators to ensure the data provided is correct.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Hefty prices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The external reports come to us with a hefty price which is way more that what maintaining a self-made app needs.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8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Report</a:t>
            </a:r>
            <a:endParaRPr/>
          </a:p>
        </p:txBody>
      </p:sp>
      <p:sp>
        <p:nvSpPr>
          <p:cNvPr id="285" name="Google Shape;285;p4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Expected delivery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April 15, </a:t>
            </a:r>
            <a:r>
              <a:rPr lang="en" sz="1500"/>
              <a:t>2019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For target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Analysis of trends of students going to various places like Academic Area, SAC, Main gate and Market gate.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9"/>
          <p:cNvSpPr txBox="1"/>
          <p:nvPr>
            <p:ph type="title"/>
          </p:nvPr>
        </p:nvSpPr>
        <p:spPr>
          <a:xfrm>
            <a:off x="1669025" y="-109850"/>
            <a:ext cx="74751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Knowing our audience</a:t>
            </a:r>
            <a:endParaRPr/>
          </a:p>
        </p:txBody>
      </p:sp>
      <p:pic>
        <p:nvPicPr>
          <p:cNvPr id="291" name="Google Shape;29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5550"/>
            <a:ext cx="4572000" cy="2827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525550"/>
            <a:ext cx="4572000" cy="2827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8912" y="3074420"/>
            <a:ext cx="3346175" cy="206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9625" y="3935335"/>
            <a:ext cx="20193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45075" y="3993250"/>
            <a:ext cx="2656325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0"/>
          <p:cNvSpPr txBox="1"/>
          <p:nvPr>
            <p:ph type="title"/>
          </p:nvPr>
        </p:nvSpPr>
        <p:spPr>
          <a:xfrm>
            <a:off x="2031750" y="-95875"/>
            <a:ext cx="71124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common mode of transport</a:t>
            </a:r>
            <a:endParaRPr/>
          </a:p>
        </p:txBody>
      </p:sp>
      <p:pic>
        <p:nvPicPr>
          <p:cNvPr id="301" name="Google Shape;30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1738" y="1001025"/>
            <a:ext cx="5080526" cy="314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1"/>
          <p:cNvSpPr txBox="1"/>
          <p:nvPr>
            <p:ph type="title"/>
          </p:nvPr>
        </p:nvSpPr>
        <p:spPr>
          <a:xfrm>
            <a:off x="2330325" y="-85375"/>
            <a:ext cx="6813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Travel in groups?</a:t>
            </a:r>
            <a:endParaRPr/>
          </a:p>
        </p:txBody>
      </p:sp>
      <p:pic>
        <p:nvPicPr>
          <p:cNvPr id="307" name="Google Shape;30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948425"/>
            <a:ext cx="5715000" cy="35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2"/>
          <p:cNvSpPr txBox="1"/>
          <p:nvPr>
            <p:ph type="title"/>
          </p:nvPr>
        </p:nvSpPr>
        <p:spPr>
          <a:xfrm>
            <a:off x="2172875" y="-85375"/>
            <a:ext cx="69711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Travel to Academic Area</a:t>
            </a:r>
            <a:endParaRPr/>
          </a:p>
        </p:txBody>
      </p:sp>
      <p:pic>
        <p:nvPicPr>
          <p:cNvPr id="313" name="Google Shape;31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50025"/>
            <a:ext cx="4389300" cy="2714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9300" y="2203500"/>
            <a:ext cx="4754700" cy="2939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2875" y="3956300"/>
            <a:ext cx="221642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04981"/>
            <a:ext cx="2019300" cy="38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3"/>
          <p:cNvSpPr txBox="1"/>
          <p:nvPr>
            <p:ph type="title"/>
          </p:nvPr>
        </p:nvSpPr>
        <p:spPr>
          <a:xfrm>
            <a:off x="2099400" y="-85375"/>
            <a:ext cx="7044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Interaction with the outside world</a:t>
            </a:r>
            <a:endParaRPr/>
          </a:p>
        </p:txBody>
      </p:sp>
      <p:pic>
        <p:nvPicPr>
          <p:cNvPr id="322" name="Google Shape;32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981"/>
            <a:ext cx="2019300" cy="38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550025"/>
            <a:ext cx="4572000" cy="2827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2" y="2316475"/>
            <a:ext cx="4572012" cy="282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9625" y="4424650"/>
            <a:ext cx="4308800" cy="38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4"/>
          <p:cNvSpPr txBox="1"/>
          <p:nvPr>
            <p:ph type="title"/>
          </p:nvPr>
        </p:nvSpPr>
        <p:spPr>
          <a:xfrm>
            <a:off x="1049700" y="304425"/>
            <a:ext cx="7044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 other than academics...</a:t>
            </a:r>
            <a:endParaRPr/>
          </a:p>
        </p:txBody>
      </p:sp>
      <p:pic>
        <p:nvPicPr>
          <p:cNvPr id="331" name="Google Shape;33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225" y="46375"/>
            <a:ext cx="8397550" cy="38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7600" y="4529625"/>
            <a:ext cx="6389325" cy="38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4500" y="1245738"/>
            <a:ext cx="5715000" cy="35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5"/>
          <p:cNvSpPr txBox="1"/>
          <p:nvPr>
            <p:ph type="title"/>
          </p:nvPr>
        </p:nvSpPr>
        <p:spPr>
          <a:xfrm>
            <a:off x="2162375" y="-76200"/>
            <a:ext cx="7044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Interesting Observation</a:t>
            </a:r>
            <a:endParaRPr/>
          </a:p>
        </p:txBody>
      </p:sp>
      <p:pic>
        <p:nvPicPr>
          <p:cNvPr id="339" name="Google Shape;33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925" y="512150"/>
            <a:ext cx="5715000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550" y="1658425"/>
            <a:ext cx="5542575" cy="34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6725" y="4413100"/>
            <a:ext cx="2277825" cy="38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2571737"/>
            <a:ext cx="3334375" cy="206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dk1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348" name="Google Shape;348;p56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56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Results</a:t>
            </a:r>
            <a:endParaRPr b="1" i="0" sz="2400" u="none" cap="none" strike="noStrike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0" name="Google Shape;350;p56"/>
          <p:cNvSpPr txBox="1"/>
          <p:nvPr>
            <p:ph idx="4294967295" type="body"/>
          </p:nvPr>
        </p:nvSpPr>
        <p:spPr>
          <a:xfrm>
            <a:off x="2855550" y="1377475"/>
            <a:ext cx="3432900" cy="3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The app has an edge in many aspects like flexibility in surveys.  Some points in flexibility are as seen - 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App Based Data Analytics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Get</a:t>
            </a: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graphs based on the data collected directly on the mobile app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Multi survey app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Rather than using it once and resetting it we can have multiple use for different surveys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725" y="4413100"/>
            <a:ext cx="7895800" cy="38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9800"/>
            <a:ext cx="8882525" cy="38837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57"/>
          <p:cNvSpPr txBox="1"/>
          <p:nvPr/>
        </p:nvSpPr>
        <p:spPr>
          <a:xfrm>
            <a:off x="2303018" y="2204400"/>
            <a:ext cx="42765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Thank You!</a:t>
            </a:r>
            <a:endParaRPr b="1" sz="4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